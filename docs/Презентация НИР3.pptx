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1"/>
    <p:restoredTop sz="94699"/>
  </p:normalViewPr>
  <p:slideViewPr>
    <p:cSldViewPr>
      <p:cViewPr varScale="1">
        <p:scale>
          <a:sx n="127" d="100"/>
          <a:sy n="127" d="100"/>
        </p:scale>
        <p:origin x="353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50546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908" y="663197"/>
            <a:ext cx="18994087" cy="106460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50546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50546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908" y="1109982"/>
            <a:ext cx="18994087" cy="101992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501" y="4477389"/>
            <a:ext cx="133721" cy="1038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50546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787" y="4487675"/>
            <a:ext cx="123435" cy="10286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131" y="3983030"/>
            <a:ext cx="9197340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50546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891" y="2378075"/>
            <a:ext cx="12277560" cy="398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e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 централизованного управления устройствами сбора и обработки телеметрических данных</a:t>
            </a:r>
            <a:br>
              <a:rPr lang="ru-RU" dirty="0"/>
            </a:b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74650" y="6569075"/>
            <a:ext cx="9906000" cy="420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59454">
              <a:lnSpc>
                <a:spcPct val="150200"/>
              </a:lnSpc>
              <a:spcBef>
                <a:spcPts val="100"/>
              </a:spcBef>
            </a:pPr>
            <a:r>
              <a:rPr sz="2800" dirty="0">
                <a:solidFill>
                  <a:schemeClr val="tx1"/>
                </a:solidFill>
                <a:latin typeface="Tahoma"/>
                <a:cs typeface="Tahoma"/>
              </a:rPr>
              <a:t>Студент:</a:t>
            </a:r>
            <a:r>
              <a:rPr sz="2800" spc="-4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ru-RU" sz="2800" spc="-40" dirty="0">
                <a:solidFill>
                  <a:schemeClr val="tx1"/>
                </a:solidFill>
                <a:latin typeface="Tahoma"/>
                <a:cs typeface="Tahoma"/>
              </a:rPr>
              <a:t>Стерлигов Дмитрий Евгеньевич</a:t>
            </a:r>
            <a:r>
              <a:rPr sz="2800" spc="-1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endParaRPr lang="ru-RU" sz="2800" spc="-1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2700" marR="3259454">
              <a:lnSpc>
                <a:spcPct val="150200"/>
              </a:lnSpc>
              <a:spcBef>
                <a:spcPts val="100"/>
              </a:spcBef>
            </a:pPr>
            <a:r>
              <a:rPr sz="2800" spc="-10" dirty="0" err="1">
                <a:solidFill>
                  <a:schemeClr val="tx1"/>
                </a:solidFill>
                <a:latin typeface="Tahoma"/>
                <a:cs typeface="Tahoma"/>
              </a:rPr>
              <a:t>Группа</a:t>
            </a:r>
            <a:r>
              <a:rPr sz="2800" spc="-1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r>
              <a:rPr lang="ru-RU" sz="2800" spc="-10" dirty="0">
                <a:solidFill>
                  <a:schemeClr val="tx1"/>
                </a:solidFill>
                <a:latin typeface="Tahoma"/>
                <a:cs typeface="Tahoma"/>
              </a:rPr>
              <a:t> БИСТ-22-ИТ-1</a:t>
            </a:r>
            <a:endParaRPr sz="28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2700" marR="5080">
              <a:lnSpc>
                <a:spcPct val="150200"/>
              </a:lnSpc>
            </a:pPr>
            <a:r>
              <a:rPr sz="2800" dirty="0">
                <a:solidFill>
                  <a:schemeClr val="tx1"/>
                </a:solidFill>
                <a:latin typeface="Tahoma"/>
                <a:cs typeface="Tahoma"/>
              </a:rPr>
              <a:t>Научный</a:t>
            </a:r>
            <a:r>
              <a:rPr sz="2800" spc="-14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800" dirty="0" err="1">
                <a:solidFill>
                  <a:schemeClr val="tx1"/>
                </a:solidFill>
                <a:latin typeface="Tahoma"/>
                <a:cs typeface="Tahoma"/>
              </a:rPr>
              <a:t>руководитель</a:t>
            </a:r>
            <a:r>
              <a:rPr sz="280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r>
              <a:rPr lang="ru-RU" sz="2800" dirty="0">
                <a:solidFill>
                  <a:schemeClr val="tx1"/>
                </a:solidFill>
                <a:latin typeface="Tahoma"/>
                <a:cs typeface="Tahoma"/>
              </a:rPr>
              <a:t>К.т.н., доцент кафедры инфокоммуникационных технологий</a:t>
            </a:r>
          </a:p>
          <a:p>
            <a:pPr marL="12700" marR="5080">
              <a:lnSpc>
                <a:spcPct val="150200"/>
              </a:lnSpc>
            </a:pPr>
            <a:r>
              <a:rPr lang="ru-RU" sz="2800" dirty="0" err="1">
                <a:solidFill>
                  <a:schemeClr val="tx1"/>
                </a:solidFill>
                <a:latin typeface="Tahoma"/>
                <a:cs typeface="Tahoma"/>
              </a:rPr>
              <a:t>Колистратов</a:t>
            </a:r>
            <a:r>
              <a:rPr lang="ru-RU" sz="2800" dirty="0">
                <a:solidFill>
                  <a:schemeClr val="tx1"/>
                </a:solidFill>
                <a:latin typeface="Tahoma"/>
                <a:cs typeface="Tahoma"/>
              </a:rPr>
              <a:t> Максим Васильевич</a:t>
            </a:r>
          </a:p>
          <a:p>
            <a:pPr marL="12700" marR="5080">
              <a:lnSpc>
                <a:spcPct val="150200"/>
              </a:lnSpc>
            </a:pPr>
            <a:endParaRPr sz="2800" dirty="0">
              <a:latin typeface="Tahoma"/>
              <a:cs typeface="Tahoma"/>
            </a:endParaRPr>
          </a:p>
          <a:p>
            <a:pPr marL="136525">
              <a:lnSpc>
                <a:spcPct val="100000"/>
              </a:lnSpc>
            </a:pPr>
            <a:r>
              <a:rPr sz="1950" dirty="0">
                <a:solidFill>
                  <a:srgbClr val="0441EF"/>
                </a:solidFill>
                <a:latin typeface="Tahoma"/>
                <a:cs typeface="Tahoma"/>
              </a:rPr>
              <a:t>2025</a:t>
            </a:r>
            <a:r>
              <a:rPr sz="1950" spc="60" dirty="0">
                <a:solidFill>
                  <a:srgbClr val="0441EF"/>
                </a:solidFill>
                <a:latin typeface="Tahoma"/>
                <a:cs typeface="Tahoma"/>
              </a:rPr>
              <a:t> </a:t>
            </a:r>
            <a:r>
              <a:rPr sz="1950" spc="-25" dirty="0">
                <a:solidFill>
                  <a:srgbClr val="0441EF"/>
                </a:solidFill>
                <a:latin typeface="Tahoma"/>
                <a:cs typeface="Tahoma"/>
              </a:rPr>
              <a:t>год</a:t>
            </a:r>
            <a:endParaRPr sz="19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079" y="6605290"/>
            <a:ext cx="4287571" cy="418631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96875"/>
            <a:ext cx="20104100" cy="11309350"/>
            <a:chOff x="0" y="0"/>
            <a:chExt cx="20104100" cy="113093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1041" y="868614"/>
              <a:ext cx="4039919" cy="39131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0104100" cy="1130926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4190831-2607-446F-0901-1E8050B75CF8}"/>
              </a:ext>
            </a:extLst>
          </p:cNvPr>
          <p:cNvSpPr txBox="1"/>
          <p:nvPr/>
        </p:nvSpPr>
        <p:spPr>
          <a:xfrm>
            <a:off x="450850" y="2911475"/>
            <a:ext cx="960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Актуальность разработки </a:t>
            </a:r>
            <a:r>
              <a:rPr lang="en" sz="2800" b="1" dirty="0"/>
              <a:t>backend-</a:t>
            </a:r>
            <a:r>
              <a:rPr lang="ru-RU" sz="2800" b="1" dirty="0"/>
              <a:t>платформы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52DA6-6ADC-C9AB-54D6-0F2FBBF63E39}"/>
              </a:ext>
            </a:extLst>
          </p:cNvPr>
          <p:cNvSpPr txBox="1"/>
          <p:nvPr/>
        </p:nvSpPr>
        <p:spPr>
          <a:xfrm>
            <a:off x="596522" y="4587875"/>
            <a:ext cx="9525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 приводит к росту числа подключённых устройств и объёма телеметрических данных. В таких условиях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становится центральным элементом системы: она принимает сообщения, обрабатывает телеметрию, хранит историю измерений и предоставляет актуальное состояние устройств. Для российских проектов дополнительно важны локальное развёртывание, контролируемый программный стек и возможность дальнейшего развития без зависимости от закрытых зарубежных платформ.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23" y="0"/>
            <a:ext cx="20104100" cy="11309350"/>
            <a:chOff x="0" y="0"/>
            <a:chExt cx="20104100" cy="11309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7777" y="1445959"/>
              <a:ext cx="10303389" cy="98632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48" cy="11309263"/>
            </a:xfrm>
            <a:prstGeom prst="rect">
              <a:avLst/>
            </a:prstGeom>
          </p:spPr>
        </p:pic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272D02-920F-F092-E385-2E445A212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050" y="1844675"/>
            <a:ext cx="12836831" cy="5464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9C7657-75D8-ED91-369A-664504B521F7}"/>
              </a:ext>
            </a:extLst>
          </p:cNvPr>
          <p:cNvSpPr txBox="1"/>
          <p:nvPr/>
        </p:nvSpPr>
        <p:spPr>
          <a:xfrm>
            <a:off x="459871" y="2987675"/>
            <a:ext cx="63038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представлены основные требования к разрабатываемой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платформе и способы их реализации в проекте. В качестве единого языка для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 телеметрии организован через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брокер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сообщений сохраняется в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последнее состояние устройства хранится в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Отдельно выделено требование к разделению слоёв: бизнес-логика изолирована от транспорта и хранения за счёт структуры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repository, cache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transport.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E1B1C-1146-0FF7-EB55-2213C0F764B0}"/>
              </a:ext>
            </a:extLst>
          </p:cNvPr>
          <p:cNvSpPr txBox="1"/>
          <p:nvPr/>
        </p:nvSpPr>
        <p:spPr>
          <a:xfrm>
            <a:off x="6927850" y="1127523"/>
            <a:ext cx="12836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</a:t>
            </a: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платформе и их реализация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20104100" cy="11309350"/>
            <a:chOff x="0" y="-2"/>
            <a:chExt cx="20104100" cy="11309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0964" y="-2"/>
              <a:ext cx="12879993" cy="113092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926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E77DFA5-B2CD-FDA4-2D13-DE0D992F5081}"/>
              </a:ext>
            </a:extLst>
          </p:cNvPr>
          <p:cNvSpPr txBox="1"/>
          <p:nvPr/>
        </p:nvSpPr>
        <p:spPr>
          <a:xfrm>
            <a:off x="7308850" y="549275"/>
            <a:ext cx="10053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схема работы прототипа </a:t>
            </a: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A7338D-E00C-9383-8D9F-663BEB2B1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450" y="2682875"/>
            <a:ext cx="9934258" cy="5519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4EE72E-5444-8992-F7E3-AC8FBE51A8AE}"/>
              </a:ext>
            </a:extLst>
          </p:cNvPr>
          <p:cNvSpPr txBox="1"/>
          <p:nvPr/>
        </p:nvSpPr>
        <p:spPr>
          <a:xfrm>
            <a:off x="525568" y="3292475"/>
            <a:ext cx="6172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показан общий контур взаимодействия компонентов прототипа. Устройства или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 формируют телеметрические сообщения и публикуют их в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брокер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Backend-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подписывается на топики телеметрии, принимает сообщения, выполняет их обработку и сохраняет данные в два хранилища: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истории измерений, а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последнего состояния устройства.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025" y="0"/>
            <a:ext cx="20103995" cy="11309260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020AB4-54E4-39B5-750A-0D654AFB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650" y="2454275"/>
            <a:ext cx="10618087" cy="5867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0EFA25-4020-93D2-BF7E-5AF7485E4C26}"/>
              </a:ext>
            </a:extLst>
          </p:cNvPr>
          <p:cNvSpPr txBox="1"/>
          <p:nvPr/>
        </p:nvSpPr>
        <p:spPr>
          <a:xfrm>
            <a:off x="463299" y="2987675"/>
            <a:ext cx="78301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показано разделение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на логические слои.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main.go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 запуск приложения, слой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собирает зависимости,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принимает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сообщения,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основную прикладную логику, а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repository/cache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отвечают за работу с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Вспомогательные слои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config, domain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загрузку параметров, единую модель телеметрии и подключение к внешним сервисам.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16CC5-CD8B-0875-FDFA-4D671CAA2CB0}"/>
              </a:ext>
            </a:extLst>
          </p:cNvPr>
          <p:cNvSpPr txBox="1"/>
          <p:nvPr/>
        </p:nvSpPr>
        <p:spPr>
          <a:xfrm>
            <a:off x="6394450" y="458785"/>
            <a:ext cx="10133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Слоистая архитектура </a:t>
            </a: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3995" cy="1130926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D2558C-C5D2-A552-DC46-AC62FE27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3368675"/>
            <a:ext cx="12801602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289984-9146-CC75-E9FF-5720D164A077}"/>
              </a:ext>
            </a:extLst>
          </p:cNvPr>
          <p:cNvSpPr txBox="1"/>
          <p:nvPr/>
        </p:nvSpPr>
        <p:spPr>
          <a:xfrm>
            <a:off x="3651250" y="701675"/>
            <a:ext cx="10133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Доменная модель телеметрии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A9744-A236-3045-92BC-3790C0D6CC13}"/>
              </a:ext>
            </a:extLst>
          </p:cNvPr>
          <p:cNvSpPr txBox="1"/>
          <p:nvPr/>
        </p:nvSpPr>
        <p:spPr>
          <a:xfrm>
            <a:off x="6584112" y="6742817"/>
            <a:ext cx="906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представлена структура объекта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Telemetry,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используется как единая модель данных внутри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платформы. В неё входят идентификатор устройства, значения температуры и влажности, статус устройства и время формирования телеметрии. Эта модель передаётся между слоями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transport,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repository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9350"/>
            <a:chOff x="0" y="0"/>
            <a:chExt cx="20104100" cy="11309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8578" y="1975735"/>
              <a:ext cx="12170546" cy="93092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9263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118251F4-E7E8-B5B5-D20B-45927E11E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0" y="3450732"/>
            <a:ext cx="11204260" cy="63592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6A03B3-860F-F0FC-D571-45260D4C65CB}"/>
              </a:ext>
            </a:extLst>
          </p:cNvPr>
          <p:cNvSpPr txBox="1"/>
          <p:nvPr/>
        </p:nvSpPr>
        <p:spPr>
          <a:xfrm>
            <a:off x="3803650" y="1610554"/>
            <a:ext cx="10314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обработки телеметрического сообщения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75649-7F5F-8223-CEBC-DFC99CB3B2D1}"/>
              </a:ext>
            </a:extLst>
          </p:cNvPr>
          <p:cNvSpPr txBox="1"/>
          <p:nvPr/>
        </p:nvSpPr>
        <p:spPr>
          <a:xfrm>
            <a:off x="450850" y="3309290"/>
            <a:ext cx="5638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показан путь одного телеметрического сообщения от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хранилищ данных.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публикует сообщение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брокер,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broker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доставляет его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subscriber-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компоненту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приложения, после чего данные передаются в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проверки и обработки. Затем история телеметрии сохраняется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последнее состояние устройства обновляется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"/>
            <a:ext cx="20104100" cy="11309350"/>
            <a:chOff x="0" y="-7"/>
            <a:chExt cx="20104100" cy="11309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0490" y="-7"/>
              <a:ext cx="12983505" cy="11309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9263"/>
            </a:xfrm>
            <a:prstGeom prst="rect">
              <a:avLst/>
            </a:prstGeom>
          </p:spPr>
        </p:pic>
      </p:grpSp>
      <p:pic>
        <p:nvPicPr>
          <p:cNvPr id="5" name="Рисунок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56263D-3351-64EA-7BD0-64BCCA334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55" y="2225675"/>
            <a:ext cx="12676468" cy="6338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CE4DA-EDDC-9186-94B3-7C6A80BC18A6}"/>
              </a:ext>
            </a:extLst>
          </p:cNvPr>
          <p:cNvSpPr txBox="1"/>
          <p:nvPr/>
        </p:nvSpPr>
        <p:spPr>
          <a:xfrm>
            <a:off x="831850" y="882005"/>
            <a:ext cx="10314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обработки телеметрии в </a:t>
            </a:r>
            <a:r>
              <a:rPr lang="e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82DAD-E3A6-1651-3C96-D64D6579E1EF}"/>
              </a:ext>
            </a:extLst>
          </p:cNvPr>
          <p:cNvSpPr txBox="1"/>
          <p:nvPr/>
        </p:nvSpPr>
        <p:spPr>
          <a:xfrm>
            <a:off x="374650" y="2073275"/>
            <a:ext cx="5867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показана внутренняя логика обработки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на стороне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Сообщение проходит этапы извлечения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device_id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JSON-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декодирования, валидации и нормализации. После успешной проверки данные сохраняются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историческая запись, а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обновляется последнее состояние устройства.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9350"/>
            <a:chOff x="0" y="-9"/>
            <a:chExt cx="20104100" cy="11309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0490" y="-9"/>
              <a:ext cx="12983505" cy="11309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9263"/>
            </a:xfrm>
            <a:prstGeom prst="rect">
              <a:avLst/>
            </a:prstGeom>
          </p:spPr>
        </p:pic>
      </p:grpSp>
      <p:pic>
        <p:nvPicPr>
          <p:cNvPr id="5" name="Рисунок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1596BA-7C0F-0926-2600-BE0A544C4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302" y="1692275"/>
            <a:ext cx="11231880" cy="6205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848692-2ADD-64AC-3D57-0A9D1478D554}"/>
              </a:ext>
            </a:extLst>
          </p:cNvPr>
          <p:cNvSpPr txBox="1"/>
          <p:nvPr/>
        </p:nvSpPr>
        <p:spPr>
          <a:xfrm>
            <a:off x="222250" y="549275"/>
            <a:ext cx="518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 прототипа </a:t>
            </a:r>
            <a:r>
              <a:rPr lang="e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D44B0-BE65-B555-96CE-CA4ABBB5F668}"/>
              </a:ext>
            </a:extLst>
          </p:cNvPr>
          <p:cNvSpPr txBox="1"/>
          <p:nvPr/>
        </p:nvSpPr>
        <p:spPr>
          <a:xfrm>
            <a:off x="374650" y="2606675"/>
            <a:ext cx="632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слайде показано, как компоненты прототипа разворачиваются в едином окружении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состав системы входят два прикладных контейнера —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backend,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инфраструктурные сервисы: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брокер </a:t>
            </a:r>
            <a:r>
              <a:rPr lang="e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PostgreSQL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Redis. Gateway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публикует телеметрию в брокер,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сообщения, сохраняет историю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обновляет последнее состояние устройства в </a:t>
            </a:r>
            <a:r>
              <a:rPr lang="e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78465" y="565852"/>
            <a:ext cx="59372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10" dirty="0">
                <a:solidFill>
                  <a:srgbClr val="0441EF"/>
                </a:solidFill>
                <a:latin typeface="Tahoma"/>
                <a:cs typeface="Tahoma"/>
              </a:rPr>
              <a:t>misis.ru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717" y="332070"/>
            <a:ext cx="1970903" cy="787182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8697638" y="10558193"/>
            <a:ext cx="2901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0441EF"/>
                </a:solidFill>
                <a:latin typeface="Tahoma"/>
                <a:cs typeface="Tahoma"/>
              </a:rPr>
              <a:t>10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9A6A7-F5CE-2C74-BB3E-13563E85DE3D}"/>
              </a:ext>
            </a:extLst>
          </p:cNvPr>
          <p:cNvSpPr txBox="1"/>
          <p:nvPr/>
        </p:nvSpPr>
        <p:spPr>
          <a:xfrm>
            <a:off x="1365250" y="2378075"/>
            <a:ext cx="13335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работы был разработан прототип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 централизованного управления устройствами сбора и обработки телеметрических данных. Реализован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на языке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принимает телеметрию через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брокер </a:t>
            </a:r>
            <a:r>
              <a:rPr lang="e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обрабатывает входящие сообщения, сохраняет историю измерений в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обновляет последнее состояние устройств в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Redis.</a:t>
            </a:r>
          </a:p>
          <a:p>
            <a:pPr>
              <a:buNone/>
            </a:pPr>
            <a:b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был реализован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симулятор, который имитирует работу устройств и публикует тестовые телеметрические сообщения. Для проекта спроектирована слоистая архитектура с разделением на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domain, </a:t>
            </a:r>
            <a:r>
              <a:rPr lang="e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transport, repository, cache, storage, config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упрощает сопровождение и дальнейшее развитие системы. Развёртывание компонентов выполнено через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обеспечивает воспроизводимый локальный запуск всего прототипа.</a:t>
            </a:r>
          </a:p>
          <a:p>
            <a:pPr>
              <a:buNone/>
            </a:pP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результатом работы является работоспособный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каркас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платформы, который может быть использован как основа для дальнейшего развития: добавления 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регистрации устройств, команд управления, механизмов авторизации, мониторинга и масштабирования.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6D1669-1D6B-71AE-280E-B5DCA8E10B56}"/>
              </a:ext>
            </a:extLst>
          </p:cNvPr>
          <p:cNvSpPr txBox="1"/>
          <p:nvPr/>
        </p:nvSpPr>
        <p:spPr>
          <a:xfrm>
            <a:off x="4489450" y="1108331"/>
            <a:ext cx="5064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результат работы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33514" y="5742458"/>
            <a:ext cx="5245735" cy="1631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300"/>
              </a:lnSpc>
              <a:spcBef>
                <a:spcPts val="135"/>
              </a:spcBef>
            </a:pPr>
            <a:r>
              <a:rPr sz="5900" spc="-10" dirty="0">
                <a:solidFill>
                  <a:srgbClr val="0441EF"/>
                </a:solidFill>
              </a:rPr>
              <a:t>Спасибо</a:t>
            </a:r>
            <a:endParaRPr sz="5900"/>
          </a:p>
          <a:p>
            <a:pPr marL="12700">
              <a:lnSpc>
                <a:spcPts val="6300"/>
              </a:lnSpc>
            </a:pPr>
            <a:r>
              <a:rPr sz="5900" dirty="0">
                <a:solidFill>
                  <a:srgbClr val="0441EF"/>
                </a:solidFill>
              </a:rPr>
              <a:t>за</a:t>
            </a:r>
            <a:r>
              <a:rPr sz="5900" spc="10" dirty="0">
                <a:solidFill>
                  <a:srgbClr val="0441EF"/>
                </a:solidFill>
              </a:rPr>
              <a:t> </a:t>
            </a:r>
            <a:r>
              <a:rPr sz="5900" spc="-10" dirty="0">
                <a:solidFill>
                  <a:srgbClr val="0441EF"/>
                </a:solidFill>
              </a:rPr>
              <a:t>внимание!</a:t>
            </a:r>
            <a:endParaRPr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709</Words>
  <Application>Microsoft Macintosh PowerPoint</Application>
  <PresentationFormat>Произвольный</PresentationFormat>
  <Paragraphs>33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Calibri</vt:lpstr>
      <vt:lpstr>Tahoma</vt:lpstr>
      <vt:lpstr>Times New Roman</vt:lpstr>
      <vt:lpstr>Office Theme</vt:lpstr>
      <vt:lpstr>Разработка backend-платформы централизованного управления устройствами сбора и обработки телеметрических данных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Стерлигов Дмитрий Евгеньевич</cp:lastModifiedBy>
  <cp:revision>1</cp:revision>
  <dcterms:created xsi:type="dcterms:W3CDTF">2026-05-08T04:12:08Z</dcterms:created>
  <dcterms:modified xsi:type="dcterms:W3CDTF">2026-05-08T04:32:20Z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2026-01-12T00:00:00Z</vt:filetime>
  </property>
  <property fmtid="{D5CDD505-2E9C-101B-9397-08002B2CF9AE}" pid="4" name="Creator">
    <vt:lpwstr>Microsoft® PowerPoint® для Microsoft 365</vt:lpwstr>
  </property>
  <property fmtid="{D5CDD505-2E9C-101B-9397-08002B2CF9AE}" pid="5" name="LastSaved">
    <vt:filetime>2026-05-08T00:00:00Z</vt:filetime>
  </property>
  <property fmtid="{D5CDD505-2E9C-101B-9397-08002B2CF9AE}" pid="6" name="Producer">
    <vt:lpwstr>Microsoft® PowerPoint® для Microsoft 365</vt:lpwstr>
  </property>
</Properties>
</file>